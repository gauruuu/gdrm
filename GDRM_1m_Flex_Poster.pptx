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5999738" cy="35999738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5" autoAdjust="0"/>
    <p:restoredTop sz="94660"/>
  </p:normalViewPr>
  <p:slideViewPr>
    <p:cSldViewPr snapToGrid="0" snapToObjects="1">
      <p:cViewPr varScale="1">
        <p:scale>
          <a:sx n="16" d="100"/>
          <a:sy n="16" d="100"/>
        </p:scale>
        <p:origin x="2294" y="77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8B18C07-E22E-414E-8D4C-4F098527A370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6763" y="1200150"/>
            <a:ext cx="32416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BDBF185-CA91-459A-9911-4E93591587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73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F185-CA91-459A-9911-4E93591587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168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5999928" cy="35999928"/>
          </a:xfrm>
          <a:prstGeom prst="rect">
            <a:avLst/>
          </a:prstGeom>
          <a:solidFill>
            <a:srgbClr val="F4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</a:t>
            </a: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25420320" cy="3474720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365760" bIns="182880" rtlCol="0" anchor="ctr"/>
          <a:lstStyle/>
          <a:p>
            <a:pPr algn="ctr">
              <a:spcAft>
                <a:spcPts val="600"/>
              </a:spcAft>
              <a:defRPr sz="4600" b="1">
                <a:solidFill>
                  <a:srgbClr val="0A3C2F"/>
                </a:solidFill>
                <a:latin typeface="Times New Roman"/>
              </a:defRPr>
            </a:pPr>
            <a:r>
              <a:rPr lang="en-IN" sz="8800" dirty="0"/>
              <a:t>										</a:t>
            </a:r>
            <a:r>
              <a:rPr sz="8800" dirty="0"/>
              <a:t>GDRM </a:t>
            </a:r>
            <a:r>
              <a:rPr lang="en-IN" sz="8800" dirty="0"/>
              <a:t>ECOSYSTEM</a:t>
            </a:r>
            <a:endParaRPr sz="8800" dirty="0"/>
          </a:p>
          <a:p>
            <a:pPr algn="ctr">
              <a:spcAft>
                <a:spcPts val="800"/>
              </a:spcAft>
              <a:defRPr sz="2000" b="1">
                <a:solidFill>
                  <a:srgbClr val="0E5A44"/>
                </a:solidFill>
                <a:latin typeface="Times New Roman"/>
              </a:defRPr>
            </a:pPr>
            <a:r>
              <a:rPr lang="en-IN" sz="4000" dirty="0"/>
              <a:t>									</a:t>
            </a:r>
            <a:r>
              <a:rPr sz="4000" dirty="0"/>
              <a:t>Zero-Trust Cryptographic Document Security &amp; Anti-Leak DRM Platform</a:t>
            </a:r>
          </a:p>
          <a:p>
            <a:pPr algn="ctr">
              <a:defRPr sz="1300" i="1">
                <a:solidFill>
                  <a:srgbClr val="46505A"/>
                </a:solidFill>
                <a:latin typeface="Times New Roman"/>
              </a:defRPr>
            </a:pPr>
            <a:r>
              <a:rPr lang="en-IN" sz="1600" dirty="0"/>
              <a:t>									</a:t>
            </a:r>
            <a:r>
              <a:rPr sz="2000" dirty="0"/>
              <a:t>Encapsulate  •  Hardware Key Binding  •  Anti-Piracy Interceptor  •  Dynamic Watermark  •  </a:t>
            </a:r>
            <a:r>
              <a:rPr sz="2000" dirty="0" err="1"/>
              <a:t>ChronoLock</a:t>
            </a:r>
            <a:r>
              <a:rPr sz="2000" dirty="0"/>
              <a:t> Self-Destruct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09040" y="822960"/>
            <a:ext cx="8567928" cy="3474720"/>
          </a:xfrm>
          <a:prstGeom prst="roundRect">
            <a:avLst/>
          </a:prstGeom>
          <a:solidFill>
            <a:srgbClr val="FFFFFF"/>
          </a:solidFill>
          <a:ln w="444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just">
              <a:defRPr sz="1400" b="1">
                <a:solidFill>
                  <a:srgbClr val="0A3C2F"/>
                </a:solidFill>
                <a:latin typeface="Times New Roman"/>
              </a:defRPr>
            </a:pPr>
            <a:r>
              <a:rPr lang="en-IN" sz="2900" dirty="0"/>
              <a:t>Project Code :  </a:t>
            </a:r>
            <a:r>
              <a:rPr lang="en-IN" sz="2900" b="0" dirty="0">
                <a:solidFill>
                  <a:srgbClr val="112211"/>
                </a:solidFill>
                <a:latin typeface="Times New Roman"/>
              </a:rPr>
              <a:t>__________________</a:t>
            </a:r>
          </a:p>
          <a:p>
            <a:pPr algn="just">
              <a:spcBef>
                <a:spcPts val="1200"/>
              </a:spcBef>
              <a:defRPr sz="1400" b="1">
                <a:solidFill>
                  <a:srgbClr val="0A3C2F"/>
                </a:solidFill>
                <a:latin typeface="Times New Roman"/>
              </a:defRPr>
            </a:pPr>
            <a:r>
              <a:rPr sz="2900" dirty="0"/>
              <a:t>Category :</a:t>
            </a:r>
            <a:r>
              <a:rPr lang="en-IN" sz="2900" dirty="0"/>
              <a:t>  Engineering &amp; Technology</a:t>
            </a:r>
            <a:endParaRPr sz="2900" dirty="0">
              <a:solidFill>
                <a:srgbClr val="112211"/>
              </a:solidFill>
              <a:latin typeface="Times New Roman"/>
            </a:endParaRPr>
          </a:p>
          <a:p>
            <a:pPr algn="just">
              <a:spcBef>
                <a:spcPts val="1200"/>
              </a:spcBef>
              <a:defRPr sz="1400" b="1">
                <a:solidFill>
                  <a:srgbClr val="0A3C2F"/>
                </a:solidFill>
                <a:latin typeface="Times New Roman"/>
              </a:defRPr>
            </a:pPr>
            <a:r>
              <a:rPr sz="2900" dirty="0"/>
              <a:t>Academic Level :  </a:t>
            </a:r>
            <a:r>
              <a:rPr sz="2900" b="0" dirty="0">
                <a:solidFill>
                  <a:srgbClr val="112211"/>
                </a:solidFill>
                <a:latin typeface="Times New Roman"/>
              </a:rPr>
              <a:t>UG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63440"/>
            <a:ext cx="10927080" cy="7772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4000" dirty="0"/>
              <a:t>1.  ABSTRACT</a:t>
            </a:r>
          </a:p>
          <a:p>
            <a:pPr algn="just">
              <a:spcAft>
                <a:spcPts val="800"/>
              </a:spcAft>
              <a:defRPr sz="1200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GDRM (</a:t>
            </a:r>
            <a:r>
              <a:rPr lang="en-IN" sz="3200" dirty="0"/>
              <a:t>Granular</a:t>
            </a:r>
            <a:r>
              <a:rPr sz="3200" dirty="0"/>
              <a:t> Digital Rights Management) is an enterprise-grade, zero-trust document security ecosystem built with Flutter and Firebase. It eliminates document leakage and unauthorized redistribution by encapsulating sensitive PDF documents into tamper-evident </a:t>
            </a:r>
            <a:r>
              <a:rPr sz="3200" b="1" i="1" dirty="0"/>
              <a:t>.</a:t>
            </a:r>
            <a:r>
              <a:rPr sz="3200" b="1" i="1" dirty="0" err="1"/>
              <a:t>gdrm</a:t>
            </a:r>
            <a:r>
              <a:rPr sz="3200" dirty="0"/>
              <a:t> cryptographic containers.</a:t>
            </a:r>
          </a:p>
          <a:p>
            <a:pPr algn="just">
              <a:defRPr sz="1200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The system integrates active multi-factor enforcement: Cloud username recipient locking, automatic machine hardware binding, zero-selection anti-copy UI hooks, live countdown </a:t>
            </a:r>
            <a:r>
              <a:rPr sz="3200" b="1" dirty="0" err="1"/>
              <a:t>ChronoLock</a:t>
            </a:r>
            <a:r>
              <a:rPr sz="3200" dirty="0"/>
              <a:t> timers with data-melting triggers, and watermark-enforced physical printing while intercepting virtual PDF writers.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27280" y="4663440"/>
            <a:ext cx="10927080" cy="7772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2893040" y="5486400"/>
            <a:ext cx="6217920" cy="621792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93040" y="5486400"/>
            <a:ext cx="6217920" cy="41148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800" b="1">
                <a:solidFill>
                  <a:srgbClr val="A0AFC8"/>
                </a:solidFill>
                <a:latin typeface="Segoe UI"/>
              </a:defRPr>
            </a:pPr>
            <a:r>
              <a:t>● ● ●   GDRM Ecosystem - Desktop Reader &amp; Security Console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93040" y="5897880"/>
            <a:ext cx="2011680" cy="5806440"/>
          </a:xfrm>
          <a:prstGeom prst="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spcAft>
                <a:spcPts val="400"/>
              </a:spcAft>
              <a:defRPr sz="700" b="1">
                <a:solidFill>
                  <a:srgbClr val="00F0FF"/>
                </a:solidFill>
                <a:latin typeface="Segoe UI"/>
              </a:defRPr>
            </a:pPr>
            <a:r>
              <a:t>GDRM ECOSYSTEM</a:t>
            </a:r>
            <a:br/>
            <a:r>
              <a:t>Custom Digital Rights</a:t>
            </a:r>
          </a:p>
          <a:p>
            <a:pPr>
              <a:spcAft>
                <a:spcPts val="200"/>
              </a:spcAft>
              <a:defRPr sz="650">
                <a:solidFill>
                  <a:srgbClr val="34D399"/>
                </a:solidFill>
                <a:latin typeface="Segoe UI"/>
              </a:defRPr>
            </a:pPr>
            <a:r>
              <a:t>▶ READER CONSOLE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  PACKER CONSOLE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  ────────────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👤 @gaurav (Active)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  ────────────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MANIFEST: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• Lic: Alice Corp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• FP: GDRM-8F42</a:t>
            </a:r>
          </a:p>
          <a:p>
            <a:pPr>
              <a:spcAft>
                <a:spcPts val="200"/>
              </a:spcAft>
              <a:defRPr sz="650">
                <a:solidFill>
                  <a:srgbClr val="34D399"/>
                </a:solidFill>
                <a:latin typeface="Segoe UI"/>
              </a:defRPr>
            </a:pPr>
            <a:r>
              <a:t>• HW: BOUND-OK</a:t>
            </a:r>
          </a:p>
          <a:p>
            <a:pPr>
              <a:spcAft>
                <a:spcPts val="200"/>
              </a:spcAft>
              <a:defRPr sz="650">
                <a:solidFill>
                  <a:srgbClr val="B4BECD"/>
                </a:solidFill>
                <a:latin typeface="Segoe UI"/>
              </a:defRPr>
            </a:pPr>
            <a:r>
              <a:t>• Timer: ACTIVE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904720" y="5897880"/>
            <a:ext cx="4206240" cy="58064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37160" rtlCol="0" anchor="ctr"/>
          <a:lstStyle/>
          <a:p>
            <a:pPr algn="ctr">
              <a:spcAft>
                <a:spcPts val="400"/>
              </a:spcAft>
              <a:defRPr sz="850" b="1">
                <a:solidFill>
                  <a:srgbClr val="141E28"/>
                </a:solidFill>
                <a:latin typeface="Times New Roman"/>
              </a:defRPr>
            </a:pPr>
            <a:r>
              <a:t>CONFIDENTIAL LEGAL SPECIFICATION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1. Executive Architecture Scope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This container is cryptographically bound to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target username @alice and hardware UUID.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Zero text drag selection is enforced.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Screenshot &amp; Print spooler hooks active.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endParaRPr/>
          </a:p>
          <a:p>
            <a:pPr>
              <a:spcAft>
                <a:spcPts val="150"/>
              </a:spcAft>
              <a:defRPr sz="680" b="1">
                <a:solidFill>
                  <a:srgbClr val="B43232"/>
                </a:solidFill>
                <a:latin typeface="Times New Roman"/>
              </a:defRPr>
            </a:pPr>
            <a:r>
              <a:t>[ WATERMARK OVERLAY ]</a:t>
            </a:r>
          </a:p>
          <a:p>
            <a:pPr>
              <a:spcAft>
                <a:spcPts val="150"/>
              </a:spcAft>
              <a:defRPr sz="680" b="1">
                <a:solidFill>
                  <a:srgbClr val="B43232"/>
                </a:solidFill>
                <a:latin typeface="Times New Roman"/>
              </a:defRPr>
            </a:pPr>
            <a:r>
              <a:t>LICENSED TO: @alice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r>
              <a:t>IP: 192.168.1.104 • 2026-09-20</a:t>
            </a:r>
          </a:p>
          <a:p>
            <a:pPr>
              <a:spcAft>
                <a:spcPts val="150"/>
              </a:spcAft>
              <a:defRPr sz="680">
                <a:solidFill>
                  <a:srgbClr val="505A64"/>
                </a:solidFill>
                <a:latin typeface="Times New Roman"/>
              </a:defRPr>
            </a:pPr>
            <a:endParaRPr/>
          </a:p>
          <a:p>
            <a:pPr>
              <a:spcAft>
                <a:spcPts val="150"/>
              </a:spcAft>
              <a:defRPr sz="680" b="1">
                <a:solidFill>
                  <a:srgbClr val="0E5A44"/>
                </a:solidFill>
                <a:latin typeface="Times New Roman"/>
              </a:defRPr>
            </a:pPr>
            <a:r>
              <a:t>🔒 PROTECTED VIEW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31000" y="5486400"/>
            <a:ext cx="3566160" cy="6217920"/>
          </a:xfrm>
          <a:prstGeom prst="roundRect">
            <a:avLst/>
          </a:prstGeom>
          <a:solidFill>
            <a:srgbClr val="0B0F19"/>
          </a:solidFill>
          <a:ln w="2286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568160" y="5623560"/>
            <a:ext cx="3291840" cy="594360"/>
          </a:xfrm>
          <a:prstGeom prst="round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F0FF"/>
                </a:solidFill>
                <a:latin typeface="Segoe UI"/>
              </a:defRPr>
            </a:pPr>
            <a:r>
              <a:t>GDRM App  •  @gaurav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68160" y="6309360"/>
            <a:ext cx="3291840" cy="4572000"/>
          </a:xfrm>
          <a:prstGeom prst="rect">
            <a:avLst/>
          </a:prstGeom>
          <a:solidFill>
            <a:srgbClr val="1E2538"/>
          </a:solidFill>
          <a:ln w="10160">
            <a:solidFill>
              <a:srgbClr val="2E3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spcAft>
                <a:spcPts val="400"/>
              </a:spcAft>
              <a:defRPr sz="850" b="1">
                <a:solidFill>
                  <a:srgbClr val="34D399"/>
                </a:solidFill>
                <a:latin typeface="Segoe UI"/>
              </a:defRPr>
            </a:pPr>
            <a:r>
              <a:t>PACKER CONSOLE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📄 File: confidential_doc.pdf</a:t>
            </a:r>
          </a:p>
          <a:p>
            <a:pPr>
              <a:spcAft>
                <a:spcPts val="250"/>
              </a:spcAft>
              <a:defRPr sz="680" b="1">
                <a:solidFill>
                  <a:srgbClr val="34D399"/>
                </a:solidFill>
                <a:latin typeface="Segoe UI"/>
              </a:defRPr>
            </a:pPr>
            <a:r>
              <a:t>👤 Target: @alice_eng [✓ VERIFIED]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⏱ ChronoLock: 24h Auto-Melt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🔑 Password FileRip: ENABLED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r>
              <a:t>👁 Max Opens: 3 Views Limit</a:t>
            </a:r>
          </a:p>
          <a:p>
            <a:pPr>
              <a:spcAft>
                <a:spcPts val="250"/>
              </a:spcAft>
              <a:defRPr sz="680">
                <a:solidFill>
                  <a:srgbClr val="C8D7E6"/>
                </a:solidFill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680" b="1">
                <a:solidFill>
                  <a:srgbClr val="00F0FF"/>
                </a:solidFill>
                <a:latin typeface="Segoe UI"/>
              </a:defRPr>
            </a:pPr>
            <a:r>
              <a:t>▶ [ PACK &amp; ENCRYPT .GDRM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568160" y="10972800"/>
            <a:ext cx="3291840" cy="502920"/>
          </a:xfrm>
          <a:prstGeom prst="rect">
            <a:avLst/>
          </a:prstGeom>
          <a:solidFill>
            <a:srgbClr val="16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34D399"/>
                </a:solidFill>
                <a:latin typeface="Segoe UI"/>
              </a:defRPr>
            </a:pPr>
            <a:r>
              <a:t>📖 Reader           📦 Packer (Active)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32209" y="11750040"/>
            <a:ext cx="5317225" cy="26161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>
              <a:defRPr sz="1000" b="1">
                <a:solidFill>
                  <a:srgbClr val="0A3C2F"/>
                </a:solidFill>
                <a:latin typeface="Times New Roman"/>
              </a:defRPr>
            </a:pPr>
            <a:r>
              <a:rPr sz="1400" dirty="0"/>
              <a:t>Desktop Multi-Pane Console (Left)  |  Mobile App Interface (Right)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0" y="4663440"/>
            <a:ext cx="10927080" cy="7772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200" dirty="0"/>
              <a:t>3.  INTRODUCTION</a:t>
            </a:r>
          </a:p>
          <a:p>
            <a:pPr algn="just">
              <a:spcAft>
                <a:spcPts val="800"/>
              </a:spcAft>
              <a:defRPr sz="1200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Conventional PDF documents suffer from structural security deficiencies. Once shared, static password protected files can be duplicated infinitely, decrypted by brute-force tools, or stripped of protection via virtual PDF writers (e.g. Microsoft Print to PDF) and clipboard extractors.</a:t>
            </a:r>
          </a:p>
          <a:p>
            <a:pPr algn="just">
              <a:defRPr sz="1200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GDRM solves this with an active client-server zero-trust architecture. Decryption keys are never stored in plaintext and files strictly require cryptographic identity validation, hardware key matching, and real-time execution sandboxing.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280160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4.  OBJECTIVES</a:t>
            </a:r>
          </a:p>
          <a:p>
            <a:pPr algn="just"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1. Cryptographic Encapsulation</a:t>
            </a:r>
            <a:r>
              <a:rPr sz="3000" dirty="0"/>
              <a:t>: Package PDFs into encrypted </a:t>
            </a:r>
            <a:r>
              <a:rPr sz="3000" b="1" i="1" dirty="0"/>
              <a:t>.</a:t>
            </a:r>
            <a:r>
              <a:rPr sz="3000" b="1" i="1" dirty="0" err="1"/>
              <a:t>gdrm</a:t>
            </a:r>
            <a:r>
              <a:rPr sz="3000" b="1" i="1" dirty="0"/>
              <a:t> </a:t>
            </a:r>
            <a:r>
              <a:rPr sz="3000" dirty="0"/>
              <a:t>binary containers with custom integrity headers.</a:t>
            </a:r>
          </a:p>
          <a:p>
            <a:pPr algn="just"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2. Identity-Bound Distribution</a:t>
            </a:r>
            <a:r>
              <a:rPr sz="3000" dirty="0"/>
              <a:t>: Enforce 1-to-1 recipient username locking verified via Firebase Cloud </a:t>
            </a:r>
            <a:r>
              <a:rPr sz="3000" dirty="0" err="1"/>
              <a:t>Firestore</a:t>
            </a:r>
            <a:r>
              <a:rPr sz="3000" dirty="0"/>
              <a:t>.</a:t>
            </a:r>
          </a:p>
          <a:p>
            <a:pPr algn="just"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3. Client-Side Anti-Leak Protection:</a:t>
            </a:r>
            <a:r>
              <a:rPr sz="3000" dirty="0"/>
              <a:t> Intercept and suppress text selection, hotkeys (</a:t>
            </a:r>
            <a:r>
              <a:rPr sz="3000" dirty="0" err="1"/>
              <a:t>Ctrl+C</a:t>
            </a:r>
            <a:r>
              <a:rPr sz="3000" dirty="0"/>
              <a:t>, </a:t>
            </a:r>
            <a:r>
              <a:rPr sz="3000" dirty="0" err="1"/>
              <a:t>Ctrl+A</a:t>
            </a:r>
            <a:r>
              <a:rPr sz="3000" dirty="0"/>
              <a:t>), and unauthorized prints.</a:t>
            </a:r>
          </a:p>
          <a:p>
            <a:pPr algn="just"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4. Hardware Anchoring:</a:t>
            </a:r>
            <a:r>
              <a:rPr sz="3000" dirty="0"/>
              <a:t> Bind decrypted payloads to the first authorized device UUID to prevent file copying.</a:t>
            </a:r>
          </a:p>
          <a:p>
            <a:pPr algn="just">
              <a:spcAft>
                <a:spcPts val="400"/>
              </a:spcAft>
              <a:defRPr sz="112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5. Auditable Paper Printing:</a:t>
            </a:r>
            <a:r>
              <a:rPr sz="3000" dirty="0"/>
              <a:t> Provide rasterized watermarked physical printing while blocking virtual print drivers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27280" y="1280160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2900" dirty="0"/>
              <a:t>5.  ARCHITECTURE &amp; WORKFLOW</a:t>
            </a:r>
            <a:endParaRPr lang="en-IN" sz="2900" dirty="0"/>
          </a:p>
          <a:p>
            <a:pPr algn="ctr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lang="en-IN" sz="2900" dirty="0"/>
              <a:t>1. Sender Configures Policies &amp; Target Recipient (</a:t>
            </a:r>
            <a:r>
              <a:rPr lang="en-IN" sz="2900" i="1" dirty="0"/>
              <a:t>@handle</a:t>
            </a:r>
            <a:r>
              <a:rPr lang="en-IN" sz="2900" dirty="0"/>
              <a:t>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15803D"/>
                </a:solidFill>
                <a:latin typeface="Times New Roman"/>
              </a:defRPr>
            </a:pPr>
            <a:r>
              <a:rPr lang="en-IN" sz="2900" dirty="0"/>
              <a:t>   ↓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lang="en-IN" sz="2900" dirty="0"/>
              <a:t>2. Packer Encrypts Payload &amp; Generates GDRM Fingerprint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15803D"/>
                </a:solidFill>
                <a:latin typeface="Times New Roman"/>
              </a:defRPr>
            </a:pPr>
            <a:r>
              <a:rPr lang="en-IN" sz="2900" dirty="0"/>
              <a:t>   ↓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lang="en-IN" sz="2900" dirty="0"/>
              <a:t>3. Recipient Opens File ➔ App Verifies Firebase Cloud Auth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15803D"/>
                </a:solidFill>
                <a:latin typeface="Times New Roman"/>
              </a:defRPr>
            </a:pPr>
            <a:r>
              <a:rPr lang="en-IN" sz="2900" dirty="0"/>
              <a:t>   ↓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lang="en-IN" sz="2900" dirty="0"/>
              <a:t>4. Hardware Key Validated (Alarms on Machine Mismatch)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15803D"/>
                </a:solidFill>
                <a:latin typeface="Times New Roman"/>
              </a:defRPr>
            </a:pPr>
            <a:r>
              <a:rPr lang="en-IN" sz="2900" dirty="0"/>
              <a:t>   ↓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lang="en-IN" sz="2900" dirty="0"/>
              <a:t>5. Secure Reader Enforces Zero-Copy, </a:t>
            </a:r>
            <a:r>
              <a:rPr lang="en-IN" sz="2900" dirty="0" err="1"/>
              <a:t>ChronoLock</a:t>
            </a:r>
            <a:r>
              <a:rPr lang="en-IN" sz="2900" dirty="0"/>
              <a:t> &amp; Print Rules</a:t>
            </a:r>
          </a:p>
          <a:p>
            <a:pPr algn="ctr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endParaRPr sz="2900" dirty="0"/>
          </a:p>
        </p:txBody>
      </p:sp>
      <p:sp>
        <p:nvSpPr>
          <p:cNvPr id="19" name="Rounded Rectangle 18"/>
          <p:cNvSpPr/>
          <p:nvPr/>
        </p:nvSpPr>
        <p:spPr>
          <a:xfrm>
            <a:off x="24231600" y="1280160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6.  LITERATURE SURVEY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1. Standard Adobe PDF DRM (2018):</a:t>
            </a:r>
            <a:r>
              <a:rPr sz="3000" b="0" dirty="0">
                <a:solidFill>
                  <a:srgbClr val="112211"/>
                </a:solidFill>
                <a:latin typeface="Times New Roman"/>
              </a:rPr>
              <a:t> Vulnerable to master key extractors and virtual PDF print-to-file circumvention.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2. Enterprise Cloud DRM (Azure AIP, 2021):</a:t>
            </a:r>
            <a:r>
              <a:rPr sz="3000" b="0" dirty="0">
                <a:solidFill>
                  <a:srgbClr val="112211"/>
                </a:solidFill>
                <a:latin typeface="Times New Roman"/>
              </a:rPr>
              <a:t> Robust but involves high recurring license costs, heavy agents, and lack of offline self-destruction.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3. Hardware Cryptographic Anchors (NIST SP 800-57, 2022):</a:t>
            </a:r>
            <a:r>
              <a:rPr sz="3000" b="0" dirty="0">
                <a:solidFill>
                  <a:srgbClr val="112211"/>
                </a:solidFill>
                <a:latin typeface="Times New Roman"/>
              </a:rPr>
              <a:t> Establishes device binding guidelines adapted in GDRM hardware locks.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4. Client Anti-Scraping Hooks (IEEE TIFS, 2023):</a:t>
            </a:r>
            <a:r>
              <a:rPr sz="3000" b="0" dirty="0">
                <a:solidFill>
                  <a:srgbClr val="112211"/>
                </a:solidFill>
                <a:latin typeface="Times New Roman"/>
              </a:rPr>
              <a:t> Confirms efficacy of low-level OS input interception in data exfiltration defense.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002536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7.  RESEARCH GAP &amp; THREATS</a:t>
            </a:r>
          </a:p>
          <a:p>
            <a:pPr algn="just"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• Lack of Recipient Exclusivity</a:t>
            </a:r>
            <a:r>
              <a:rPr sz="3000" dirty="0"/>
              <a:t>: Once a traditional password-protected file is unlocked, it can be shared with infinite unauthorized third parties.</a:t>
            </a:r>
          </a:p>
          <a:p>
            <a:pPr algn="just"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dirty="0"/>
              <a:t>• </a:t>
            </a:r>
            <a:r>
              <a:rPr sz="3000" b="1" dirty="0"/>
              <a:t>Clipboard Extraction</a:t>
            </a:r>
            <a:r>
              <a:rPr sz="3000" dirty="0"/>
              <a:t>: Most viewers allow highlight-copy text extraction into memory buffers with no forensic audit trail.</a:t>
            </a:r>
          </a:p>
          <a:p>
            <a:pPr algn="just"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dirty="0"/>
              <a:t>• </a:t>
            </a:r>
            <a:r>
              <a:rPr sz="3000" b="1" dirty="0"/>
              <a:t>Virtual PDF Re-printing</a:t>
            </a:r>
            <a:r>
              <a:rPr sz="3000" dirty="0"/>
              <a:t>: Users easily bypass read-only restrictions by printing to a virtual PDF driver to generate unprotected files.</a:t>
            </a:r>
          </a:p>
          <a:p>
            <a:pPr algn="just">
              <a:spcAft>
                <a:spcPts val="35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dirty="0"/>
              <a:t>• </a:t>
            </a:r>
            <a:r>
              <a:rPr sz="3000" b="1" dirty="0"/>
              <a:t>No Self-Destruct Mechanisms</a:t>
            </a:r>
            <a:r>
              <a:rPr sz="3000" dirty="0"/>
              <a:t>: Absence of time-bomb locks or view-counter auto-destruction for sensitive time-bound documents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527280" y="2002536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000" dirty="0"/>
              <a:t>8.  METHODOLOGY</a:t>
            </a:r>
          </a:p>
          <a:p>
            <a:pPr algn="just"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1. Threat Modeling</a:t>
            </a:r>
            <a:r>
              <a:rPr sz="3000" dirty="0"/>
              <a:t>: Analysis of document leakage attack vectors across memory, clipboard, disk caching, and virtual spooling.</a:t>
            </a:r>
          </a:p>
          <a:p>
            <a:pPr algn="just"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2. Container Cryptography</a:t>
            </a:r>
            <a:r>
              <a:rPr sz="3000" dirty="0"/>
              <a:t>: Specification of .</a:t>
            </a:r>
            <a:r>
              <a:rPr sz="3000" dirty="0" err="1"/>
              <a:t>gdrm</a:t>
            </a:r>
            <a:r>
              <a:rPr sz="3000" dirty="0"/>
              <a:t> binary headers, XOR keystream encryption, and cryptographic checksums.</a:t>
            </a:r>
          </a:p>
          <a:p>
            <a:pPr algn="just"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3. Cross-Platform Engine</a:t>
            </a:r>
            <a:r>
              <a:rPr sz="3000" dirty="0"/>
              <a:t>: Developed Flutter frontend with custom Native Win32 / macOS hooks for input suppression.</a:t>
            </a:r>
          </a:p>
          <a:p>
            <a:pPr algn="just"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4. Cloud Auth &amp; </a:t>
            </a:r>
            <a:r>
              <a:rPr sz="3000" b="1" dirty="0" err="1"/>
              <a:t>Firestore</a:t>
            </a:r>
            <a:r>
              <a:rPr sz="3000" dirty="0"/>
              <a:t>: User identity registration, handle lookup, and real-time recipient verification backend.</a:t>
            </a:r>
          </a:p>
          <a:p>
            <a:pPr algn="just">
              <a:spcAft>
                <a:spcPts val="300"/>
              </a:spcAft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000" b="1" dirty="0"/>
              <a:t>5. Security Validation</a:t>
            </a:r>
            <a:r>
              <a:rPr sz="3000" dirty="0"/>
              <a:t>: Penetration tests against piracy trips, spoofing, and file tampering.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0" y="20025360"/>
            <a:ext cx="10927080" cy="6858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200" dirty="0"/>
              <a:t>9.  FEATURES VS STANDARD PDF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200" dirty="0"/>
              <a:t>• Username Recipient Lock:</a:t>
            </a:r>
            <a:r>
              <a:rPr sz="3200" b="0" dirty="0">
                <a:solidFill>
                  <a:srgbClr val="112211"/>
                </a:solidFill>
                <a:latin typeface="Times New Roman"/>
              </a:rPr>
              <a:t> Decryption strictly restricted to authorized </a:t>
            </a:r>
            <a:r>
              <a:rPr sz="3200" b="0" i="1" dirty="0">
                <a:solidFill>
                  <a:srgbClr val="112211"/>
                </a:solidFill>
                <a:latin typeface="Times New Roman"/>
              </a:rPr>
              <a:t>@username</a:t>
            </a:r>
            <a:r>
              <a:rPr sz="3200" b="0" dirty="0">
                <a:solidFill>
                  <a:srgbClr val="112211"/>
                </a:solidFill>
                <a:latin typeface="Times New Roman"/>
              </a:rPr>
              <a:t> via Firebase Cloud registry.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200" dirty="0"/>
              <a:t>• Hardware Machine Binding:</a:t>
            </a:r>
            <a:r>
              <a:rPr sz="3200" b="0" dirty="0">
                <a:solidFill>
                  <a:srgbClr val="112211"/>
                </a:solidFill>
                <a:latin typeface="Times New Roman"/>
              </a:rPr>
              <a:t> Automatically bonds to the first opening computer; blocks unauthorized replication.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200" dirty="0"/>
              <a:t>• Virtual Printer Blocking:</a:t>
            </a:r>
            <a:r>
              <a:rPr sz="3200" b="0" dirty="0">
                <a:solidFill>
                  <a:srgbClr val="112211"/>
                </a:solidFill>
                <a:latin typeface="Times New Roman"/>
              </a:rPr>
              <a:t> Filters out Adobe/CutePDF drivers; allows only physical paper with dynamic watermarks.</a:t>
            </a:r>
          </a:p>
          <a:p>
            <a:pPr algn="just">
              <a:spcAft>
                <a:spcPts val="350"/>
              </a:spcAft>
              <a:defRPr sz="1100" b="1">
                <a:solidFill>
                  <a:srgbClr val="0A3C2F"/>
                </a:solidFill>
                <a:latin typeface="Times New Roman"/>
              </a:defRPr>
            </a:pPr>
            <a:r>
              <a:rPr sz="3200" dirty="0"/>
              <a:t>• </a:t>
            </a:r>
            <a:r>
              <a:rPr sz="3200" dirty="0" err="1"/>
              <a:t>ChronoLock</a:t>
            </a:r>
            <a:r>
              <a:rPr sz="3200" dirty="0"/>
              <a:t> &amp; Rigged Timers:</a:t>
            </a:r>
            <a:r>
              <a:rPr sz="3200" b="0" dirty="0">
                <a:solidFill>
                  <a:srgbClr val="112211"/>
                </a:solidFill>
                <a:latin typeface="Times New Roman"/>
              </a:rPr>
              <a:t> Supports countdown self-destruct time-bombs and max view count quotas.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27249120"/>
            <a:ext cx="10927080" cy="6217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600" dirty="0"/>
              <a:t>10.  FUTURE SCOPE</a:t>
            </a:r>
          </a:p>
          <a:p>
            <a:pPr algn="just"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rPr sz="3600" b="1" dirty="0"/>
              <a:t>1. AI Screen Recording Detection</a:t>
            </a:r>
            <a:r>
              <a:rPr sz="3600" dirty="0"/>
              <a:t>: Camera gaze tracking to prevent external smartphone recording.</a:t>
            </a:r>
          </a:p>
          <a:p>
            <a:pPr algn="just"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rPr sz="3600" b="1" dirty="0"/>
              <a:t>2. Zero-Knowledge Proofs</a:t>
            </a:r>
            <a:r>
              <a:rPr sz="3600" dirty="0"/>
              <a:t>: Anonymous yet cryptographically verified recipient authorization.</a:t>
            </a:r>
          </a:p>
          <a:p>
            <a:pPr algn="just"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rPr sz="3600" b="1" dirty="0"/>
              <a:t>3. Multi-Format Container</a:t>
            </a:r>
            <a:r>
              <a:rPr sz="3600" dirty="0"/>
              <a:t>: Extend .</a:t>
            </a:r>
            <a:r>
              <a:rPr sz="3600" dirty="0" err="1"/>
              <a:t>gdrm</a:t>
            </a:r>
            <a:r>
              <a:rPr sz="3600" dirty="0"/>
              <a:t> encapsulation to CAD blueprints, audio, and video.</a:t>
            </a:r>
          </a:p>
          <a:p>
            <a:pPr algn="just">
              <a:spcAft>
                <a:spcPts val="250"/>
              </a:spcAft>
              <a:defRPr sz="1080">
                <a:solidFill>
                  <a:srgbClr val="112211"/>
                </a:solidFill>
                <a:latin typeface="Times New Roman"/>
              </a:defRPr>
            </a:pPr>
            <a:r>
              <a:rPr sz="3600" b="1" dirty="0"/>
              <a:t>4. Decentralized Audit Logs</a:t>
            </a:r>
            <a:r>
              <a:rPr sz="3600" dirty="0"/>
              <a:t>: Immutable </a:t>
            </a:r>
            <a:r>
              <a:rPr sz="3600" dirty="0" err="1"/>
              <a:t>SnailTrail</a:t>
            </a:r>
            <a:r>
              <a:rPr sz="3600" dirty="0"/>
              <a:t> notarization on distributed ledgers.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527280" y="27249120"/>
            <a:ext cx="10927080" cy="6217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400" dirty="0"/>
              <a:t>11.  CONCLUSION</a:t>
            </a:r>
          </a:p>
          <a:p>
            <a:pPr algn="just">
              <a:defRPr sz="1100">
                <a:solidFill>
                  <a:srgbClr val="112211"/>
                </a:solidFill>
                <a:latin typeface="Times New Roman"/>
              </a:defRPr>
            </a:pPr>
            <a:r>
              <a:rPr sz="3400" dirty="0"/>
              <a:t>GDRM Ecosystem successfully establishes a comprehensive zero-trust security paradigm for sensitive electronic documents. By unifying cryptographic container packaging, cloud recipient authentication, hardware device binding, anti-copy reader suppression, and dynamic watermarked physical printing, GDRM prevents unauthorized data leaks at every stage.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0" y="27249120"/>
            <a:ext cx="10927080" cy="6217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5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bIns="228600" rtlCol="0" anchor="ctr"/>
          <a:lstStyle/>
          <a:p>
            <a:pPr algn="just">
              <a:spcAft>
                <a:spcPts val="800"/>
              </a:spcAft>
              <a:defRPr sz="1550" b="1">
                <a:solidFill>
                  <a:srgbClr val="0A3C2F"/>
                </a:solidFill>
                <a:latin typeface="Times New Roman"/>
              </a:defRPr>
            </a:pPr>
            <a:r>
              <a:rPr sz="3200" dirty="0"/>
              <a:t>12.  REFERENCES</a:t>
            </a:r>
          </a:p>
          <a:p>
            <a:pPr algn="just"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1. Stallings, W.</a:t>
            </a:r>
            <a:r>
              <a:rPr lang="en-IN" sz="3200" dirty="0"/>
              <a:t>: </a:t>
            </a:r>
            <a:r>
              <a:rPr sz="3200" dirty="0"/>
              <a:t> </a:t>
            </a:r>
            <a:r>
              <a:rPr lang="en-IN" sz="3200" dirty="0"/>
              <a:t>"</a:t>
            </a:r>
            <a:r>
              <a:rPr sz="3200" dirty="0"/>
              <a:t>Cryptography &amp; Network Security: Principles and Practice, 8th Ed</a:t>
            </a:r>
            <a:r>
              <a:rPr lang="en-IN" sz="3200" dirty="0"/>
              <a:t>,” (2020).</a:t>
            </a:r>
            <a:endParaRPr sz="3200" dirty="0"/>
          </a:p>
          <a:p>
            <a:pPr algn="just"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2. Adobe Systems Inc.</a:t>
            </a:r>
            <a:r>
              <a:rPr lang="en-IN" sz="3200" dirty="0"/>
              <a:t> :</a:t>
            </a:r>
            <a:r>
              <a:rPr sz="3200" dirty="0"/>
              <a:t> </a:t>
            </a:r>
            <a:r>
              <a:rPr lang="en-IN" sz="3200" dirty="0"/>
              <a:t>"</a:t>
            </a:r>
            <a:r>
              <a:rPr sz="3200" dirty="0"/>
              <a:t>PDF Reference &amp; Security Architecture Specification, ISO 32000-2</a:t>
            </a:r>
            <a:r>
              <a:rPr lang="en-IN" sz="3200" dirty="0"/>
              <a:t>,” (2020).</a:t>
            </a:r>
            <a:endParaRPr sz="3200" dirty="0"/>
          </a:p>
          <a:p>
            <a:pPr algn="just"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3. NIST SP 800-175</a:t>
            </a:r>
            <a:r>
              <a:rPr lang="en-IN" sz="3200" dirty="0"/>
              <a:t>B:</a:t>
            </a:r>
            <a:r>
              <a:rPr sz="3200" dirty="0"/>
              <a:t> </a:t>
            </a:r>
            <a:r>
              <a:rPr lang="en-IN" sz="3200" dirty="0"/>
              <a:t>"</a:t>
            </a:r>
            <a:r>
              <a:rPr sz="3200" dirty="0"/>
              <a:t>Guideline for Using Cryptographic Standards in Organizations</a:t>
            </a:r>
            <a:r>
              <a:rPr lang="en-IN" sz="3200" dirty="0"/>
              <a:t>,” (2022) </a:t>
            </a:r>
            <a:r>
              <a:rPr sz="3200" dirty="0"/>
              <a:t>.</a:t>
            </a:r>
          </a:p>
          <a:p>
            <a:pPr algn="just">
              <a:spcAft>
                <a:spcPts val="200"/>
              </a:spcAft>
              <a:defRPr sz="1019">
                <a:solidFill>
                  <a:srgbClr val="112211"/>
                </a:solidFill>
                <a:latin typeface="Times New Roman"/>
              </a:defRPr>
            </a:pPr>
            <a:r>
              <a:rPr sz="3200" dirty="0"/>
              <a:t>4. IEEE TIFS</a:t>
            </a:r>
            <a:r>
              <a:rPr lang="en-IN" sz="3200" dirty="0"/>
              <a:t>:</a:t>
            </a:r>
            <a:r>
              <a:rPr lang="mr-IN" sz="3200" dirty="0"/>
              <a:t> </a:t>
            </a:r>
            <a:r>
              <a:rPr lang="en-IN" sz="3200" dirty="0"/>
              <a:t>“</a:t>
            </a:r>
            <a:r>
              <a:rPr sz="3200" dirty="0"/>
              <a:t>Defending Against Client-Side Data Leakage in Zero-Trust Systems</a:t>
            </a:r>
            <a:r>
              <a:rPr lang="en-IN" sz="3200" dirty="0"/>
              <a:t>,” (2023) .</a:t>
            </a:r>
            <a:endParaRPr sz="3200" dirty="0"/>
          </a:p>
        </p:txBody>
      </p:sp>
      <p:sp>
        <p:nvSpPr>
          <p:cNvPr id="26" name="Rounded Rectangle 25"/>
          <p:cNvSpPr/>
          <p:nvPr/>
        </p:nvSpPr>
        <p:spPr>
          <a:xfrm>
            <a:off x="822960" y="34107120"/>
            <a:ext cx="34354008" cy="1005840"/>
          </a:xfrm>
          <a:prstGeom prst="roundRect">
            <a:avLst/>
          </a:prstGeom>
          <a:solidFill>
            <a:srgbClr val="0A3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 lang="en-IN" sz="1600" dirty="0"/>
              <a:t>•  </a:t>
            </a:r>
            <a:r>
              <a:rPr sz="1600" dirty="0"/>
              <a:t>GDRM Ecosystem • </a:t>
            </a:r>
            <a:r>
              <a:rPr lang="en-IN" sz="1600" dirty="0"/>
              <a:t>Granular</a:t>
            </a:r>
            <a:r>
              <a:rPr sz="1600" dirty="0"/>
              <a:t> Digital Rights Manage</a:t>
            </a:r>
            <a:r>
              <a:rPr lang="en-IN" sz="1600" dirty="0"/>
              <a:t>r</a:t>
            </a:r>
            <a:endParaRPr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9911954-9251-4712-A100-B116F379E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10" y="1377327"/>
            <a:ext cx="6159597" cy="21278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F6D7604-A2F8-486D-7A11-8D3D2CDD944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3468188" y="34239714"/>
            <a:ext cx="2143992" cy="740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1148</Words>
  <Application>Microsoft Office PowerPoint</Application>
  <PresentationFormat>Custom</PresentationFormat>
  <Paragraphs>99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Gaurang Dalal</cp:lastModifiedBy>
  <cp:revision>12</cp:revision>
  <cp:lastPrinted>2026-09-20T17:42:53Z</cp:lastPrinted>
  <dcterms:created xsi:type="dcterms:W3CDTF">2013-01-27T09:14:16Z</dcterms:created>
  <dcterms:modified xsi:type="dcterms:W3CDTF">2026-09-22T10:21:17Z</dcterms:modified>
  <cp:category/>
</cp:coreProperties>
</file>