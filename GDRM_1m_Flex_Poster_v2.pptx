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5999928" cy="3599992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5999928" cy="35999928"/>
          </a:xfrm>
          <a:prstGeom prst="rect">
            <a:avLst/>
          </a:prstGeom>
          <a:solidFill>
            <a:srgbClr val="F4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822960"/>
            <a:ext cx="25420320" cy="3474720"/>
          </a:xfrm>
          <a:prstGeom prst="roundRect">
            <a:avLst/>
          </a:prstGeom>
          <a:solidFill>
            <a:srgbClr val="FFFFFF"/>
          </a:solidFill>
          <a:ln w="44450">
            <a:solidFill>
              <a:srgbClr val="37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gdr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1143000"/>
            <a:ext cx="4114800" cy="14214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577840" y="1005840"/>
            <a:ext cx="20391120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4000" b="1">
                <a:solidFill>
                  <a:srgbClr val="0A3C2F"/>
                </a:solidFill>
                <a:latin typeface="Times New Roman"/>
              </a:defRPr>
            </a:pPr>
            <a:r>
              <a:t>GDRM Ecosystems</a:t>
            </a:r>
          </a:p>
          <a:p>
            <a:pPr>
              <a:spcAft>
                <a:spcPts val="600"/>
              </a:spcAft>
              <a:defRPr sz="1750" b="1">
                <a:solidFill>
                  <a:srgbClr val="377E22"/>
                </a:solidFill>
                <a:latin typeface="Times New Roman"/>
              </a:defRPr>
            </a:pPr>
            <a:r>
              <a:t>Granular Digital Right Manager — Zero-Trust Cryptographic Document Security Platform</a:t>
            </a:r>
          </a:p>
          <a:p>
            <a:pPr>
              <a:defRPr sz="1250" i="1">
                <a:solidFill>
                  <a:srgbClr val="46505A"/>
                </a:solidFill>
                <a:latin typeface="Times New Roman"/>
              </a:defRPr>
            </a:pPr>
            <a:r>
              <a:t>Encapsulate  •  Hardware Key Binding  •  Anti-Piracy Interceptor  •  Dynamic Watermark  •  ChronoLock Self-Destruct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609040" y="822960"/>
            <a:ext cx="8567928" cy="3474720"/>
          </a:xfrm>
          <a:prstGeom prst="roundRect">
            <a:avLst/>
          </a:prstGeom>
          <a:solidFill>
            <a:srgbClr val="FFFFFF"/>
          </a:solidFill>
          <a:ln w="44450">
            <a:solidFill>
              <a:srgbClr val="37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>
              <a:defRPr sz="1400" b="1">
                <a:solidFill>
                  <a:srgbClr val="0A3C2F"/>
                </a:solidFill>
                <a:latin typeface="Times New Roman"/>
              </a:defRPr>
            </a:pPr>
            <a:r>
              <a:t>Project Code :  </a:t>
            </a:r>
            <a:r>
              <a:rPr sz="1350" b="0">
                <a:solidFill>
                  <a:srgbClr val="112211"/>
                </a:solidFill>
                <a:latin typeface="Times New Roman"/>
              </a:rPr>
              <a:t>CS-DRM-2026-09</a:t>
            </a:r>
          </a:p>
          <a:p>
            <a:pPr>
              <a:spcBef>
                <a:spcPts val="1200"/>
              </a:spcBef>
              <a:defRPr sz="1400" b="1">
                <a:solidFill>
                  <a:srgbClr val="0A3C2F"/>
                </a:solidFill>
                <a:latin typeface="Times New Roman"/>
              </a:defRPr>
            </a:pPr>
            <a:r>
              <a:t>Category :  </a:t>
            </a:r>
            <a:r>
              <a:rPr sz="1350" b="0">
                <a:solidFill>
                  <a:srgbClr val="112211"/>
                </a:solidFill>
                <a:latin typeface="Times New Roman"/>
              </a:rPr>
              <a:t>Cyber Security &amp; Infosec</a:t>
            </a:r>
          </a:p>
          <a:p>
            <a:pPr>
              <a:spcBef>
                <a:spcPts val="1200"/>
              </a:spcBef>
              <a:defRPr sz="1400" b="1">
                <a:solidFill>
                  <a:srgbClr val="0A3C2F"/>
                </a:solidFill>
                <a:latin typeface="Times New Roman"/>
              </a:defRPr>
            </a:pPr>
            <a:r>
              <a:t>Academic Level :  </a:t>
            </a:r>
            <a:r>
              <a:rPr sz="1350" b="0">
                <a:solidFill>
                  <a:srgbClr val="112211"/>
                </a:solidFill>
                <a:latin typeface="Times New Roman"/>
              </a:rPr>
              <a:t>UG / Capstone Project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663440"/>
            <a:ext cx="10927080" cy="77724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37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56032" bIns="228600"/>
          <a:lstStyle/>
          <a:p>
            <a:pPr algn="ctr">
              <a:spcAft>
                <a:spcPts val="800"/>
              </a:spcAft>
              <a:defRPr sz="1550" b="1">
                <a:solidFill>
                  <a:srgbClr val="0A3C2F"/>
                </a:solidFill>
                <a:latin typeface="Times New Roman"/>
              </a:defRPr>
            </a:pPr>
            <a:r>
              <a:t>1.  ABSTRACT</a:t>
            </a:r>
          </a:p>
          <a:p>
            <a:pPr>
              <a:spcAft>
                <a:spcPts val="800"/>
              </a:spcAft>
              <a:defRPr sz="1200">
                <a:solidFill>
                  <a:srgbClr val="112211"/>
                </a:solidFill>
                <a:latin typeface="Times New Roman"/>
              </a:defRPr>
            </a:pPr>
            <a:r>
              <a:t>GDRM (Granular Digital Right Manager) is an enterprise-grade, zero-trust document security ecosystem built with Flutter and Firebase. It eliminates document leakage and unauthorized redistribution by encapsulating sensitive PDF documents into tamper-evident .gdrm cryptographic containers.</a:t>
            </a:r>
          </a:p>
          <a:p>
            <a:pPr>
              <a:defRPr sz="1200">
                <a:solidFill>
                  <a:srgbClr val="112211"/>
                </a:solidFill>
                <a:latin typeface="Times New Roman"/>
              </a:defRPr>
            </a:pPr>
            <a:r>
              <a:t>The system integrates active multi-factor enforcement: Cloud username recipient locking, automatic machine hardware binding, zero-selection anti-copy UI hooks, live countdown ChronoLock timers with data-melting triggers, and watermark-enforced physical printing while intercepting virtual PDF writers.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527280" y="4663440"/>
            <a:ext cx="10927080" cy="77724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37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56032" bIns="228600"/>
          <a:lstStyle/>
          <a:p>
            <a:pPr algn="ctr">
              <a:spcAft>
                <a:spcPts val="800"/>
              </a:spcAft>
              <a:defRPr sz="1550" b="1">
                <a:solidFill>
                  <a:srgbClr val="0A3C2F"/>
                </a:solidFill>
                <a:latin typeface="Times New Roman"/>
              </a:defRPr>
            </a:pPr>
            <a:r>
              <a:t>2.  SYSTEM INTERFACE (MOCKUPS)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893040" y="5486400"/>
            <a:ext cx="6217920" cy="6217920"/>
          </a:xfrm>
          <a:prstGeom prst="roundRect">
            <a:avLst/>
          </a:prstGeom>
          <a:solidFill>
            <a:srgbClr val="0B0F19"/>
          </a:solidFill>
          <a:ln w="19050">
            <a:solidFill>
              <a:srgbClr val="37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2893040" y="5486400"/>
            <a:ext cx="6217920" cy="411480"/>
          </a:xfrm>
          <a:prstGeom prst="rect">
            <a:avLst/>
          </a:prstGeom>
          <a:solidFill>
            <a:srgbClr val="12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800" b="1">
                <a:solidFill>
                  <a:srgbClr val="A0AFC8"/>
                </a:solidFill>
                <a:latin typeface="Segoe UI"/>
              </a:defRPr>
            </a:pPr>
            <a:r>
              <a:t>● ● ●   GDRM Desktop Console - Reader &amp; Security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893040" y="5897880"/>
            <a:ext cx="2011680" cy="5806440"/>
          </a:xfrm>
          <a:prstGeom prst="rect">
            <a:avLst/>
          </a:prstGeom>
          <a:solidFill>
            <a:srgbClr val="161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spcAft>
                <a:spcPts val="400"/>
              </a:spcAft>
              <a:defRPr sz="700" b="1">
                <a:solidFill>
                  <a:srgbClr val="00F0FF"/>
                </a:solidFill>
                <a:latin typeface="Segoe UI"/>
              </a:defRPr>
            </a:pPr>
            <a:r>
              <a:t>GDRM ECOSYSTEMS</a:t>
            </a:r>
            <a:br/>
            <a:r>
              <a:t>Granular Digital Rights</a:t>
            </a:r>
          </a:p>
          <a:p>
            <a:pPr>
              <a:spcAft>
                <a:spcPts val="200"/>
              </a:spcAft>
              <a:defRPr sz="650">
                <a:solidFill>
                  <a:srgbClr val="34D399"/>
                </a:solidFill>
                <a:latin typeface="Segoe UI"/>
              </a:defRPr>
            </a:pPr>
            <a:r>
              <a:t>▶ READER CONSOLE</a:t>
            </a:r>
          </a:p>
          <a:p>
            <a:pPr>
              <a:spcAft>
                <a:spcPts val="200"/>
              </a:spcAft>
              <a:defRPr sz="650">
                <a:solidFill>
                  <a:srgbClr val="B4BECD"/>
                </a:solidFill>
                <a:latin typeface="Segoe UI"/>
              </a:defRPr>
            </a:pPr>
            <a:r>
              <a:t>  PACKER CONSOLE</a:t>
            </a:r>
          </a:p>
          <a:p>
            <a:pPr>
              <a:spcAft>
                <a:spcPts val="200"/>
              </a:spcAft>
              <a:defRPr sz="650">
                <a:solidFill>
                  <a:srgbClr val="B4BECD"/>
                </a:solidFill>
                <a:latin typeface="Segoe UI"/>
              </a:defRPr>
            </a:pPr>
            <a:r>
              <a:t>  ────────────</a:t>
            </a:r>
          </a:p>
          <a:p>
            <a:pPr>
              <a:spcAft>
                <a:spcPts val="200"/>
              </a:spcAft>
              <a:defRPr sz="650">
                <a:solidFill>
                  <a:srgbClr val="B4BECD"/>
                </a:solidFill>
                <a:latin typeface="Segoe UI"/>
              </a:defRPr>
            </a:pPr>
            <a:r>
              <a:t>👤 @gaurav (Active)</a:t>
            </a:r>
          </a:p>
          <a:p>
            <a:pPr>
              <a:spcAft>
                <a:spcPts val="200"/>
              </a:spcAft>
              <a:defRPr sz="650">
                <a:solidFill>
                  <a:srgbClr val="B4BECD"/>
                </a:solidFill>
                <a:latin typeface="Segoe UI"/>
              </a:defRPr>
            </a:pPr>
            <a:r>
              <a:t>  ────────────</a:t>
            </a:r>
          </a:p>
          <a:p>
            <a:pPr>
              <a:spcAft>
                <a:spcPts val="200"/>
              </a:spcAft>
              <a:defRPr sz="650">
                <a:solidFill>
                  <a:srgbClr val="B4BECD"/>
                </a:solidFill>
                <a:latin typeface="Segoe UI"/>
              </a:defRPr>
            </a:pPr>
            <a:r>
              <a:t>MANIFEST:</a:t>
            </a:r>
          </a:p>
          <a:p>
            <a:pPr>
              <a:spcAft>
                <a:spcPts val="200"/>
              </a:spcAft>
              <a:defRPr sz="650">
                <a:solidFill>
                  <a:srgbClr val="B4BECD"/>
                </a:solidFill>
                <a:latin typeface="Segoe UI"/>
              </a:defRPr>
            </a:pPr>
            <a:r>
              <a:t>• Lic: Alice Corp</a:t>
            </a:r>
          </a:p>
          <a:p>
            <a:pPr>
              <a:spcAft>
                <a:spcPts val="200"/>
              </a:spcAft>
              <a:defRPr sz="650">
                <a:solidFill>
                  <a:srgbClr val="B4BECD"/>
                </a:solidFill>
                <a:latin typeface="Segoe UI"/>
              </a:defRPr>
            </a:pPr>
            <a:r>
              <a:t>• FP: GDRM-8F42</a:t>
            </a:r>
          </a:p>
          <a:p>
            <a:pPr>
              <a:spcAft>
                <a:spcPts val="200"/>
              </a:spcAft>
              <a:defRPr sz="650">
                <a:solidFill>
                  <a:srgbClr val="34D399"/>
                </a:solidFill>
                <a:latin typeface="Segoe UI"/>
              </a:defRPr>
            </a:pPr>
            <a:r>
              <a:t>• HW: BOUND-OK</a:t>
            </a:r>
          </a:p>
          <a:p>
            <a:pPr>
              <a:spcAft>
                <a:spcPts val="200"/>
              </a:spcAft>
              <a:defRPr sz="650">
                <a:solidFill>
                  <a:srgbClr val="B4BECD"/>
                </a:solidFill>
                <a:latin typeface="Segoe UI"/>
              </a:defRPr>
            </a:pPr>
            <a:r>
              <a:t>• Timer: ACTIVE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904720" y="5897880"/>
            <a:ext cx="4206240" cy="580644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37160"/>
          <a:lstStyle/>
          <a:p>
            <a:pPr algn="ctr">
              <a:spcAft>
                <a:spcPts val="400"/>
              </a:spcAft>
              <a:defRPr sz="850" b="1">
                <a:solidFill>
                  <a:srgbClr val="141E28"/>
                </a:solidFill>
                <a:latin typeface="Times New Roman"/>
              </a:defRPr>
            </a:pPr>
            <a:r>
              <a:t>CONFIDENTIAL LEGAL SPECIFICATION</a:t>
            </a:r>
          </a:p>
          <a:p>
            <a:pPr>
              <a:spcAft>
                <a:spcPts val="150"/>
              </a:spcAft>
              <a:defRPr sz="680">
                <a:solidFill>
                  <a:srgbClr val="505A64"/>
                </a:solidFill>
                <a:latin typeface="Times New Roman"/>
              </a:defRPr>
            </a:pPr>
            <a:r>
              <a:t>1. Executive Architecture Scope</a:t>
            </a:r>
          </a:p>
          <a:p>
            <a:pPr>
              <a:spcAft>
                <a:spcPts val="150"/>
              </a:spcAft>
              <a:defRPr sz="680">
                <a:solidFill>
                  <a:srgbClr val="505A64"/>
                </a:solidFill>
                <a:latin typeface="Times New Roman"/>
              </a:defRPr>
            </a:pPr>
            <a:r>
              <a:t>This container is cryptographically bound to</a:t>
            </a:r>
          </a:p>
          <a:p>
            <a:pPr>
              <a:spcAft>
                <a:spcPts val="150"/>
              </a:spcAft>
              <a:defRPr sz="680">
                <a:solidFill>
                  <a:srgbClr val="505A64"/>
                </a:solidFill>
                <a:latin typeface="Times New Roman"/>
              </a:defRPr>
            </a:pPr>
            <a:r>
              <a:t>target username @alice and hardware UUID.</a:t>
            </a:r>
          </a:p>
          <a:p>
            <a:pPr>
              <a:spcAft>
                <a:spcPts val="150"/>
              </a:spcAft>
              <a:defRPr sz="680">
                <a:solidFill>
                  <a:srgbClr val="505A64"/>
                </a:solidFill>
                <a:latin typeface="Times New Roman"/>
              </a:defRPr>
            </a:pPr>
            <a:r>
              <a:t>Zero text drag selection is enforced.</a:t>
            </a:r>
          </a:p>
          <a:p>
            <a:pPr>
              <a:spcAft>
                <a:spcPts val="150"/>
              </a:spcAft>
              <a:defRPr sz="680">
                <a:solidFill>
                  <a:srgbClr val="505A64"/>
                </a:solidFill>
                <a:latin typeface="Times New Roman"/>
              </a:defRPr>
            </a:pPr>
            <a:r>
              <a:t>Screenshot &amp; Print spooler hooks active.</a:t>
            </a:r>
          </a:p>
          <a:p>
            <a:pPr>
              <a:spcAft>
                <a:spcPts val="150"/>
              </a:spcAft>
              <a:defRPr sz="680">
                <a:solidFill>
                  <a:srgbClr val="505A64"/>
                </a:solidFill>
                <a:latin typeface="Times New Roman"/>
              </a:defRPr>
            </a:pPr>
          </a:p>
          <a:p>
            <a:pPr>
              <a:spcAft>
                <a:spcPts val="150"/>
              </a:spcAft>
              <a:defRPr sz="680" b="1">
                <a:solidFill>
                  <a:srgbClr val="B43232"/>
                </a:solidFill>
                <a:latin typeface="Times New Roman"/>
              </a:defRPr>
            </a:pPr>
            <a:r>
              <a:t>[ WATERMARK OVERLAY ]</a:t>
            </a:r>
          </a:p>
          <a:p>
            <a:pPr>
              <a:spcAft>
                <a:spcPts val="150"/>
              </a:spcAft>
              <a:defRPr sz="680" b="1">
                <a:solidFill>
                  <a:srgbClr val="B43232"/>
                </a:solidFill>
                <a:latin typeface="Times New Roman"/>
              </a:defRPr>
            </a:pPr>
            <a:r>
              <a:t>LICENSED TO: @alice</a:t>
            </a:r>
          </a:p>
          <a:p>
            <a:pPr>
              <a:spcAft>
                <a:spcPts val="150"/>
              </a:spcAft>
              <a:defRPr sz="680">
                <a:solidFill>
                  <a:srgbClr val="505A64"/>
                </a:solidFill>
                <a:latin typeface="Times New Roman"/>
              </a:defRPr>
            </a:pPr>
            <a:r>
              <a:t>IP: 192.168.1.104 • 2026-09-20</a:t>
            </a:r>
          </a:p>
          <a:p>
            <a:pPr>
              <a:spcAft>
                <a:spcPts val="150"/>
              </a:spcAft>
              <a:defRPr sz="680">
                <a:solidFill>
                  <a:srgbClr val="505A64"/>
                </a:solidFill>
                <a:latin typeface="Times New Roman"/>
              </a:defRPr>
            </a:pPr>
          </a:p>
          <a:p>
            <a:pPr>
              <a:spcAft>
                <a:spcPts val="150"/>
              </a:spcAft>
              <a:defRPr sz="680" b="1">
                <a:solidFill>
                  <a:srgbClr val="377E22"/>
                </a:solidFill>
                <a:latin typeface="Times New Roman"/>
              </a:defRPr>
            </a:pPr>
            <a:r>
              <a:t>🔒 PROTECTED VIEW ACTIVE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9431000" y="5486400"/>
            <a:ext cx="3566160" cy="6217920"/>
          </a:xfrm>
          <a:prstGeom prst="roundRect">
            <a:avLst/>
          </a:prstGeom>
          <a:solidFill>
            <a:srgbClr val="0B0F19"/>
          </a:solidFill>
          <a:ln w="22860">
            <a:solidFill>
              <a:srgbClr val="37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9568160" y="5623560"/>
            <a:ext cx="3291840" cy="594360"/>
          </a:xfrm>
          <a:prstGeom prst="roundRect">
            <a:avLst/>
          </a:prstGeom>
          <a:solidFill>
            <a:srgbClr val="161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0F0FF"/>
                </a:solidFill>
                <a:latin typeface="Segoe UI"/>
              </a:defRPr>
            </a:pPr>
            <a:r>
              <a:t>GDRM App  •  @gaurav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568160" y="6309360"/>
            <a:ext cx="3291840" cy="4572000"/>
          </a:xfrm>
          <a:prstGeom prst="rect">
            <a:avLst/>
          </a:prstGeom>
          <a:solidFill>
            <a:srgbClr val="1E2538"/>
          </a:solidFill>
          <a:ln w="10160">
            <a:solidFill>
              <a:srgbClr val="2E3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spcAft>
                <a:spcPts val="400"/>
              </a:spcAft>
              <a:defRPr sz="850" b="1">
                <a:solidFill>
                  <a:srgbClr val="34D399"/>
                </a:solidFill>
                <a:latin typeface="Segoe UI"/>
              </a:defRPr>
            </a:pPr>
            <a:r>
              <a:t>PACKER CONSOLE</a:t>
            </a:r>
          </a:p>
          <a:p>
            <a:pPr>
              <a:spcAft>
                <a:spcPts val="250"/>
              </a:spcAft>
              <a:defRPr sz="680">
                <a:solidFill>
                  <a:srgbClr val="C8D7E6"/>
                </a:solidFill>
                <a:latin typeface="Segoe UI"/>
              </a:defRPr>
            </a:pPr>
            <a:r>
              <a:t>📄 File: confidential_doc.pdf</a:t>
            </a:r>
          </a:p>
          <a:p>
            <a:pPr>
              <a:spcAft>
                <a:spcPts val="250"/>
              </a:spcAft>
              <a:defRPr sz="680" b="1">
                <a:solidFill>
                  <a:srgbClr val="34D399"/>
                </a:solidFill>
                <a:latin typeface="Segoe UI"/>
              </a:defRPr>
            </a:pPr>
            <a:r>
              <a:t>👤 Target: @alice_eng [✓ VERIFIED]</a:t>
            </a:r>
          </a:p>
          <a:p>
            <a:pPr>
              <a:spcAft>
                <a:spcPts val="250"/>
              </a:spcAft>
              <a:defRPr sz="680">
                <a:solidFill>
                  <a:srgbClr val="C8D7E6"/>
                </a:solidFill>
                <a:latin typeface="Segoe UI"/>
              </a:defRPr>
            </a:pPr>
            <a:r>
              <a:t>⏱ ChronoLock: 24h Auto-Melt</a:t>
            </a:r>
          </a:p>
          <a:p>
            <a:pPr>
              <a:spcAft>
                <a:spcPts val="250"/>
              </a:spcAft>
              <a:defRPr sz="680">
                <a:solidFill>
                  <a:srgbClr val="C8D7E6"/>
                </a:solidFill>
                <a:latin typeface="Segoe UI"/>
              </a:defRPr>
            </a:pPr>
            <a:r>
              <a:t>🔑 Password FileRip: ENABLED</a:t>
            </a:r>
          </a:p>
          <a:p>
            <a:pPr>
              <a:spcAft>
                <a:spcPts val="250"/>
              </a:spcAft>
              <a:defRPr sz="680">
                <a:solidFill>
                  <a:srgbClr val="C8D7E6"/>
                </a:solidFill>
                <a:latin typeface="Segoe UI"/>
              </a:defRPr>
            </a:pPr>
            <a:r>
              <a:t>👁 Max Opens: 3 Views Limit</a:t>
            </a:r>
          </a:p>
          <a:p>
            <a:pPr>
              <a:spcAft>
                <a:spcPts val="250"/>
              </a:spcAft>
              <a:defRPr sz="680">
                <a:solidFill>
                  <a:srgbClr val="C8D7E6"/>
                </a:solidFill>
                <a:latin typeface="Segoe UI"/>
              </a:defRPr>
            </a:pPr>
          </a:p>
          <a:p>
            <a:pPr>
              <a:spcAft>
                <a:spcPts val="250"/>
              </a:spcAft>
              <a:defRPr sz="680" b="1">
                <a:solidFill>
                  <a:srgbClr val="00F0FF"/>
                </a:solidFill>
                <a:latin typeface="Segoe UI"/>
              </a:defRPr>
            </a:pPr>
            <a:r>
              <a:t>▶ [ PACK &amp; ENCRYPT .GDRM 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568160" y="10972800"/>
            <a:ext cx="3291840" cy="502920"/>
          </a:xfrm>
          <a:prstGeom prst="rect">
            <a:avLst/>
          </a:prstGeom>
          <a:solidFill>
            <a:srgbClr val="161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34D399"/>
                </a:solidFill>
                <a:latin typeface="Segoe UI"/>
              </a:defRPr>
            </a:pPr>
            <a:r>
              <a:t>📖 Reader           📦 Packer (Active)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93040" y="11750040"/>
            <a:ext cx="10195560" cy="45720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ctr">
              <a:defRPr sz="1000" b="1">
                <a:solidFill>
                  <a:srgbClr val="0A3C2F"/>
                </a:solidFill>
                <a:latin typeface="Times New Roman"/>
              </a:defRPr>
            </a:pPr>
            <a:r>
              <a:t>Desktop Multi-Pane Console (Left)  |  Mobile App Interface (Right)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4231600" y="4663440"/>
            <a:ext cx="10927080" cy="77724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37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56032" bIns="228600"/>
          <a:lstStyle/>
          <a:p>
            <a:pPr algn="ctr">
              <a:spcAft>
                <a:spcPts val="800"/>
              </a:spcAft>
              <a:defRPr sz="1550" b="1">
                <a:solidFill>
                  <a:srgbClr val="0A3C2F"/>
                </a:solidFill>
                <a:latin typeface="Times New Roman"/>
              </a:defRPr>
            </a:pPr>
            <a:r>
              <a:t>3.  INTRODUCTION</a:t>
            </a:r>
          </a:p>
          <a:p>
            <a:pPr>
              <a:spcAft>
                <a:spcPts val="800"/>
              </a:spcAft>
              <a:defRPr sz="1200">
                <a:solidFill>
                  <a:srgbClr val="112211"/>
                </a:solidFill>
                <a:latin typeface="Times New Roman"/>
              </a:defRPr>
            </a:pPr>
            <a:r>
              <a:t>Conventional PDF documents suffer from structural security deficiencies. Once shared, static password protected files can be duplicated infinitely, decrypted by brute-force tools, or stripped of protection via virtual PDF writers (e.g. Microsoft Print to PDF) and clipboard extractors.</a:t>
            </a:r>
          </a:p>
          <a:p>
            <a:pPr>
              <a:defRPr sz="1200">
                <a:solidFill>
                  <a:srgbClr val="112211"/>
                </a:solidFill>
                <a:latin typeface="Times New Roman"/>
              </a:defRPr>
            </a:pPr>
            <a:r>
              <a:t>GDRM (Granular Digital Right Manager) solves this with an active client-server zero-trust architecture. Decryption keys are never stored in plaintext and files strictly require cryptographic identity validation, hardware key matching, and real-time execution sandboxing.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12801600"/>
            <a:ext cx="10927080" cy="68580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37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56032" bIns="228600"/>
          <a:lstStyle/>
          <a:p>
            <a:pPr algn="ctr">
              <a:spcAft>
                <a:spcPts val="800"/>
              </a:spcAft>
              <a:defRPr sz="1550" b="1">
                <a:solidFill>
                  <a:srgbClr val="0A3C2F"/>
                </a:solidFill>
                <a:latin typeface="Times New Roman"/>
              </a:defRPr>
            </a:pPr>
            <a:r>
              <a:t>4.  OBJECTIVES</a:t>
            </a:r>
          </a:p>
          <a:p>
            <a:pPr>
              <a:spcAft>
                <a:spcPts val="400"/>
              </a:spcAft>
              <a:defRPr sz="1120">
                <a:solidFill>
                  <a:srgbClr val="112211"/>
                </a:solidFill>
                <a:latin typeface="Times New Roman"/>
              </a:defRPr>
            </a:pPr>
            <a:r>
              <a:t>1. Cryptographic Encapsulation: Package PDFs into encrypted .gdrm binary containers with custom integrity headers.</a:t>
            </a:r>
          </a:p>
          <a:p>
            <a:pPr>
              <a:spcAft>
                <a:spcPts val="400"/>
              </a:spcAft>
              <a:defRPr sz="1120">
                <a:solidFill>
                  <a:srgbClr val="112211"/>
                </a:solidFill>
                <a:latin typeface="Times New Roman"/>
              </a:defRPr>
            </a:pPr>
            <a:r>
              <a:t>2. Identity-Bound Distribution: Enforce 1-to-1 recipient username locking verified via Firebase Cloud Firestore.</a:t>
            </a:r>
          </a:p>
          <a:p>
            <a:pPr>
              <a:spcAft>
                <a:spcPts val="400"/>
              </a:spcAft>
              <a:defRPr sz="1120">
                <a:solidFill>
                  <a:srgbClr val="112211"/>
                </a:solidFill>
                <a:latin typeface="Times New Roman"/>
              </a:defRPr>
            </a:pPr>
            <a:r>
              <a:t>3. Client-Side Anti-Leak Protection: Intercept and suppress text selection, hotkeys (Ctrl+C, Ctrl+A), and unauthorized prints.</a:t>
            </a:r>
          </a:p>
          <a:p>
            <a:pPr>
              <a:spcAft>
                <a:spcPts val="400"/>
              </a:spcAft>
              <a:defRPr sz="1120">
                <a:solidFill>
                  <a:srgbClr val="112211"/>
                </a:solidFill>
                <a:latin typeface="Times New Roman"/>
              </a:defRPr>
            </a:pPr>
            <a:r>
              <a:t>4. Hardware Anchoring: Bind decrypted payloads to the first authorized device UUID to prevent file copying.</a:t>
            </a:r>
          </a:p>
          <a:p>
            <a:pPr>
              <a:spcAft>
                <a:spcPts val="400"/>
              </a:spcAft>
              <a:defRPr sz="1120">
                <a:solidFill>
                  <a:srgbClr val="112211"/>
                </a:solidFill>
                <a:latin typeface="Times New Roman"/>
              </a:defRPr>
            </a:pPr>
            <a:r>
              <a:t>5. Auditable Paper Printing: Provide rasterized watermarked physical printing while blocking virtual print drivers.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2527280" y="12801600"/>
            <a:ext cx="10927080" cy="68580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37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56032" bIns="228600"/>
          <a:lstStyle/>
          <a:p>
            <a:pPr algn="ctr">
              <a:spcAft>
                <a:spcPts val="800"/>
              </a:spcAft>
              <a:defRPr sz="1550" b="1">
                <a:solidFill>
                  <a:srgbClr val="0A3C2F"/>
                </a:solidFill>
                <a:latin typeface="Times New Roman"/>
              </a:defRPr>
            </a:pPr>
            <a:r>
              <a:t>5.  ARCHITECTURE &amp; WORKFLOW</a:t>
            </a:r>
          </a:p>
          <a:p>
            <a:pPr algn="l">
              <a:spcAft>
                <a:spcPts val="200"/>
              </a:spcAft>
              <a:defRPr sz="1100" b="1">
                <a:solidFill>
                  <a:srgbClr val="0A3C2F"/>
                </a:solidFill>
                <a:latin typeface="Times New Roman"/>
              </a:defRPr>
            </a:pPr>
            <a:r>
              <a:t>1. Sender Configures Policies &amp; Target Recipient (@handle)</a:t>
            </a:r>
          </a:p>
          <a:p>
            <a:pPr algn="ctr">
              <a:spcAft>
                <a:spcPts val="200"/>
              </a:spcAft>
              <a:defRPr sz="1000" b="0">
                <a:solidFill>
                  <a:srgbClr val="286E1E"/>
                </a:solidFill>
                <a:latin typeface="Times New Roman"/>
              </a:defRPr>
            </a:pPr>
            <a:r>
              <a:t>   ↓</a:t>
            </a:r>
          </a:p>
          <a:p>
            <a:pPr algn="l">
              <a:spcAft>
                <a:spcPts val="200"/>
              </a:spcAft>
              <a:defRPr sz="1100" b="1">
                <a:solidFill>
                  <a:srgbClr val="0A3C2F"/>
                </a:solidFill>
                <a:latin typeface="Times New Roman"/>
              </a:defRPr>
            </a:pPr>
            <a:r>
              <a:t>2. Packer Encrypts Payload &amp; Generates GDRM Fingerprint</a:t>
            </a:r>
          </a:p>
          <a:p>
            <a:pPr algn="ctr">
              <a:spcAft>
                <a:spcPts val="200"/>
              </a:spcAft>
              <a:defRPr sz="1000" b="0">
                <a:solidFill>
                  <a:srgbClr val="286E1E"/>
                </a:solidFill>
                <a:latin typeface="Times New Roman"/>
              </a:defRPr>
            </a:pPr>
            <a:r>
              <a:t>   ↓</a:t>
            </a:r>
          </a:p>
          <a:p>
            <a:pPr algn="l">
              <a:spcAft>
                <a:spcPts val="200"/>
              </a:spcAft>
              <a:defRPr sz="1100" b="1">
                <a:solidFill>
                  <a:srgbClr val="0A3C2F"/>
                </a:solidFill>
                <a:latin typeface="Times New Roman"/>
              </a:defRPr>
            </a:pPr>
            <a:r>
              <a:t>3. Recipient Opens File ➔ App Verifies Firebase Cloud Auth</a:t>
            </a:r>
          </a:p>
          <a:p>
            <a:pPr algn="ctr">
              <a:spcAft>
                <a:spcPts val="200"/>
              </a:spcAft>
              <a:defRPr sz="1000" b="0">
                <a:solidFill>
                  <a:srgbClr val="286E1E"/>
                </a:solidFill>
                <a:latin typeface="Times New Roman"/>
              </a:defRPr>
            </a:pPr>
            <a:r>
              <a:t>   ↓</a:t>
            </a:r>
          </a:p>
          <a:p>
            <a:pPr algn="l">
              <a:spcAft>
                <a:spcPts val="200"/>
              </a:spcAft>
              <a:defRPr sz="1100" b="1">
                <a:solidFill>
                  <a:srgbClr val="0A3C2F"/>
                </a:solidFill>
                <a:latin typeface="Times New Roman"/>
              </a:defRPr>
            </a:pPr>
            <a:r>
              <a:t>4. Hardware Key Validated (Alarms on Machine Mismatch)</a:t>
            </a:r>
          </a:p>
          <a:p>
            <a:pPr algn="ctr">
              <a:spcAft>
                <a:spcPts val="200"/>
              </a:spcAft>
              <a:defRPr sz="1000" b="0">
                <a:solidFill>
                  <a:srgbClr val="286E1E"/>
                </a:solidFill>
                <a:latin typeface="Times New Roman"/>
              </a:defRPr>
            </a:pPr>
            <a:r>
              <a:t>   ↓</a:t>
            </a:r>
          </a:p>
          <a:p>
            <a:pPr algn="l">
              <a:spcAft>
                <a:spcPts val="200"/>
              </a:spcAft>
              <a:defRPr sz="1100" b="1">
                <a:solidFill>
                  <a:srgbClr val="0A3C2F"/>
                </a:solidFill>
                <a:latin typeface="Times New Roman"/>
              </a:defRPr>
            </a:pPr>
            <a:r>
              <a:t>5. Secure Reader Enforces Zero-Copy, ChronoLock &amp; Print Rules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4231600" y="12801600"/>
            <a:ext cx="10927080" cy="68580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37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56032" bIns="228600"/>
          <a:lstStyle/>
          <a:p>
            <a:pPr algn="ctr">
              <a:spcAft>
                <a:spcPts val="800"/>
              </a:spcAft>
              <a:defRPr sz="1550" b="1">
                <a:solidFill>
                  <a:srgbClr val="0A3C2F"/>
                </a:solidFill>
                <a:latin typeface="Times New Roman"/>
              </a:defRPr>
            </a:pPr>
            <a:r>
              <a:t>6.  LITERATURE SURVEY</a:t>
            </a:r>
          </a:p>
          <a:p>
            <a:pPr>
              <a:spcAft>
                <a:spcPts val="350"/>
              </a:spcAft>
              <a:defRPr sz="1100" b="1">
                <a:solidFill>
                  <a:srgbClr val="0A3C2F"/>
                </a:solidFill>
                <a:latin typeface="Times New Roman"/>
              </a:defRPr>
            </a:pPr>
            <a:r>
              <a:t>1. Standard Adobe PDF DRM (2018):</a:t>
            </a:r>
            <a:r>
              <a:rPr sz="1100" b="0">
                <a:solidFill>
                  <a:srgbClr val="112211"/>
                </a:solidFill>
                <a:latin typeface="Times New Roman"/>
              </a:rPr>
              <a:t> Vulnerable to master key extractors and virtual PDF print-to-file circumvention.</a:t>
            </a:r>
          </a:p>
          <a:p>
            <a:pPr>
              <a:spcAft>
                <a:spcPts val="350"/>
              </a:spcAft>
              <a:defRPr sz="1100" b="1">
                <a:solidFill>
                  <a:srgbClr val="0A3C2F"/>
                </a:solidFill>
                <a:latin typeface="Times New Roman"/>
              </a:defRPr>
            </a:pPr>
            <a:r>
              <a:t>2. Enterprise Cloud DRM (Azure AIP, 2021):</a:t>
            </a:r>
            <a:r>
              <a:rPr sz="1100" b="0">
                <a:solidFill>
                  <a:srgbClr val="112211"/>
                </a:solidFill>
                <a:latin typeface="Times New Roman"/>
              </a:rPr>
              <a:t> Robust but involves high recurring license costs, heavy agents, and lack of offline self-destruction.</a:t>
            </a:r>
          </a:p>
          <a:p>
            <a:pPr>
              <a:spcAft>
                <a:spcPts val="350"/>
              </a:spcAft>
              <a:defRPr sz="1100" b="1">
                <a:solidFill>
                  <a:srgbClr val="0A3C2F"/>
                </a:solidFill>
                <a:latin typeface="Times New Roman"/>
              </a:defRPr>
            </a:pPr>
            <a:r>
              <a:t>3. Hardware Cryptographic Anchors (NIST SP 800-57, 2022):</a:t>
            </a:r>
            <a:r>
              <a:rPr sz="1100" b="0">
                <a:solidFill>
                  <a:srgbClr val="112211"/>
                </a:solidFill>
                <a:latin typeface="Times New Roman"/>
              </a:rPr>
              <a:t> Establishes device binding guidelines adapted in GDRM hardware locks.</a:t>
            </a:r>
          </a:p>
          <a:p>
            <a:pPr>
              <a:spcAft>
                <a:spcPts val="350"/>
              </a:spcAft>
              <a:defRPr sz="1100" b="1">
                <a:solidFill>
                  <a:srgbClr val="0A3C2F"/>
                </a:solidFill>
                <a:latin typeface="Times New Roman"/>
              </a:defRPr>
            </a:pPr>
            <a:r>
              <a:t>4. Client Anti-Scraping Hooks (IEEE TIFS, 2023):</a:t>
            </a:r>
            <a:r>
              <a:rPr sz="1100" b="0">
                <a:solidFill>
                  <a:srgbClr val="112211"/>
                </a:solidFill>
                <a:latin typeface="Times New Roman"/>
              </a:rPr>
              <a:t> Confirms efficacy of low-level OS input interception in data exfiltration defense.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20025360"/>
            <a:ext cx="10927080" cy="68580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37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56032" bIns="228600"/>
          <a:lstStyle/>
          <a:p>
            <a:pPr algn="ctr">
              <a:spcAft>
                <a:spcPts val="800"/>
              </a:spcAft>
              <a:defRPr sz="1550" b="1">
                <a:solidFill>
                  <a:srgbClr val="0A3C2F"/>
                </a:solidFill>
                <a:latin typeface="Times New Roman"/>
              </a:defRPr>
            </a:pPr>
            <a:r>
              <a:t>7.  RESEARCH GAP &amp; THREATS</a:t>
            </a:r>
          </a:p>
          <a:p>
            <a:pPr>
              <a:spcAft>
                <a:spcPts val="350"/>
              </a:spcAft>
              <a:defRPr sz="1100">
                <a:solidFill>
                  <a:srgbClr val="112211"/>
                </a:solidFill>
                <a:latin typeface="Times New Roman"/>
              </a:defRPr>
            </a:pPr>
            <a:r>
              <a:t>• Lack of Recipient Exclusivity: Once a traditional password-protected file is unlocked, it can be shared with infinite unauthorized third parties.</a:t>
            </a:r>
          </a:p>
          <a:p>
            <a:pPr>
              <a:spcAft>
                <a:spcPts val="350"/>
              </a:spcAft>
              <a:defRPr sz="1100">
                <a:solidFill>
                  <a:srgbClr val="112211"/>
                </a:solidFill>
                <a:latin typeface="Times New Roman"/>
              </a:defRPr>
            </a:pPr>
            <a:r>
              <a:t>• Clipboard Extraction: Most viewers allow highlight-copy text extraction into memory buffers with no forensic audit trail.</a:t>
            </a:r>
          </a:p>
          <a:p>
            <a:pPr>
              <a:spcAft>
                <a:spcPts val="350"/>
              </a:spcAft>
              <a:defRPr sz="1100">
                <a:solidFill>
                  <a:srgbClr val="112211"/>
                </a:solidFill>
                <a:latin typeface="Times New Roman"/>
              </a:defRPr>
            </a:pPr>
            <a:r>
              <a:t>• Virtual PDF Re-printing: Users easily bypass read-only restrictions by printing to a virtual PDF driver to generate unprotected files.</a:t>
            </a:r>
          </a:p>
          <a:p>
            <a:pPr>
              <a:spcAft>
                <a:spcPts val="350"/>
              </a:spcAft>
              <a:defRPr sz="1100">
                <a:solidFill>
                  <a:srgbClr val="112211"/>
                </a:solidFill>
                <a:latin typeface="Times New Roman"/>
              </a:defRPr>
            </a:pPr>
            <a:r>
              <a:t>• No Self-Destruct Mechanisms: Absence of time-bomb locks or view-counter auto-destruction for sensitive time-bound documents.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2527280" y="20025360"/>
            <a:ext cx="10927080" cy="68580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37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56032" bIns="228600"/>
          <a:lstStyle/>
          <a:p>
            <a:pPr algn="ctr">
              <a:spcAft>
                <a:spcPts val="800"/>
              </a:spcAft>
              <a:defRPr sz="1550" b="1">
                <a:solidFill>
                  <a:srgbClr val="0A3C2F"/>
                </a:solidFill>
                <a:latin typeface="Times New Roman"/>
              </a:defRPr>
            </a:pPr>
            <a:r>
              <a:t>8.  METHODOLOGY</a:t>
            </a:r>
          </a:p>
          <a:p>
            <a:pPr>
              <a:spcAft>
                <a:spcPts val="300"/>
              </a:spcAft>
              <a:defRPr sz="1100">
                <a:solidFill>
                  <a:srgbClr val="112211"/>
                </a:solidFill>
                <a:latin typeface="Times New Roman"/>
              </a:defRPr>
            </a:pPr>
            <a:r>
              <a:t>1. Threat Modeling: Analysis of document leakage attack vectors across memory, clipboard, disk caching, and virtual spooling.</a:t>
            </a:r>
          </a:p>
          <a:p>
            <a:pPr>
              <a:spcAft>
                <a:spcPts val="300"/>
              </a:spcAft>
              <a:defRPr sz="1100">
                <a:solidFill>
                  <a:srgbClr val="112211"/>
                </a:solidFill>
                <a:latin typeface="Times New Roman"/>
              </a:defRPr>
            </a:pPr>
            <a:r>
              <a:t>2. Container Cryptography: Specification of .gdrm binary headers, XOR keystream encryption, and cryptographic checksums.</a:t>
            </a:r>
          </a:p>
          <a:p>
            <a:pPr>
              <a:spcAft>
                <a:spcPts val="300"/>
              </a:spcAft>
              <a:defRPr sz="1100">
                <a:solidFill>
                  <a:srgbClr val="112211"/>
                </a:solidFill>
                <a:latin typeface="Times New Roman"/>
              </a:defRPr>
            </a:pPr>
            <a:r>
              <a:t>3. Cross-Platform Engine: Developed Flutter frontend with custom Native Win32 / macOS hooks for input suppression.</a:t>
            </a:r>
          </a:p>
          <a:p>
            <a:pPr>
              <a:spcAft>
                <a:spcPts val="300"/>
              </a:spcAft>
              <a:defRPr sz="1100">
                <a:solidFill>
                  <a:srgbClr val="112211"/>
                </a:solidFill>
                <a:latin typeface="Times New Roman"/>
              </a:defRPr>
            </a:pPr>
            <a:r>
              <a:t>4. Cloud Auth &amp; Firestore: User identity registration, handle lookup, and real-time recipient verification backend.</a:t>
            </a:r>
          </a:p>
          <a:p>
            <a:pPr>
              <a:spcAft>
                <a:spcPts val="300"/>
              </a:spcAft>
              <a:defRPr sz="1100">
                <a:solidFill>
                  <a:srgbClr val="112211"/>
                </a:solidFill>
                <a:latin typeface="Times New Roman"/>
              </a:defRPr>
            </a:pPr>
            <a:r>
              <a:t>5. Security Validation: Penetration tests against piracy trips, spoofing, and file tampering.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4231600" y="20025360"/>
            <a:ext cx="10927080" cy="68580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37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56032" bIns="228600"/>
          <a:lstStyle/>
          <a:p>
            <a:pPr algn="ctr">
              <a:spcAft>
                <a:spcPts val="800"/>
              </a:spcAft>
              <a:defRPr sz="1550" b="1">
                <a:solidFill>
                  <a:srgbClr val="0A3C2F"/>
                </a:solidFill>
                <a:latin typeface="Times New Roman"/>
              </a:defRPr>
            </a:pPr>
            <a:r>
              <a:t>9.  FEATURES VS STANDARD PDF</a:t>
            </a:r>
          </a:p>
          <a:p>
            <a:pPr>
              <a:spcAft>
                <a:spcPts val="350"/>
              </a:spcAft>
              <a:defRPr sz="1100" b="1">
                <a:solidFill>
                  <a:srgbClr val="0A3C2F"/>
                </a:solidFill>
                <a:latin typeface="Times New Roman"/>
              </a:defRPr>
            </a:pPr>
            <a:r>
              <a:t>• Username Recipient Lock:</a:t>
            </a:r>
            <a:r>
              <a:rPr sz="1100" b="0">
                <a:solidFill>
                  <a:srgbClr val="112211"/>
                </a:solidFill>
                <a:latin typeface="Times New Roman"/>
              </a:rPr>
              <a:t> Decryption strictly restricted to authorized @username via Firebase Cloud registry.</a:t>
            </a:r>
          </a:p>
          <a:p>
            <a:pPr>
              <a:spcAft>
                <a:spcPts val="350"/>
              </a:spcAft>
              <a:defRPr sz="1100" b="1">
                <a:solidFill>
                  <a:srgbClr val="0A3C2F"/>
                </a:solidFill>
                <a:latin typeface="Times New Roman"/>
              </a:defRPr>
            </a:pPr>
            <a:r>
              <a:t>• Hardware Machine Binding:</a:t>
            </a:r>
            <a:r>
              <a:rPr sz="1100" b="0">
                <a:solidFill>
                  <a:srgbClr val="112211"/>
                </a:solidFill>
                <a:latin typeface="Times New Roman"/>
              </a:rPr>
              <a:t> Automatically bonds to the first opening computer; blocks unauthorized replication.</a:t>
            </a:r>
          </a:p>
          <a:p>
            <a:pPr>
              <a:spcAft>
                <a:spcPts val="350"/>
              </a:spcAft>
              <a:defRPr sz="1100" b="1">
                <a:solidFill>
                  <a:srgbClr val="0A3C2F"/>
                </a:solidFill>
                <a:latin typeface="Times New Roman"/>
              </a:defRPr>
            </a:pPr>
            <a:r>
              <a:t>• Virtual Printer Blocking:</a:t>
            </a:r>
            <a:r>
              <a:rPr sz="1100" b="0">
                <a:solidFill>
                  <a:srgbClr val="112211"/>
                </a:solidFill>
                <a:latin typeface="Times New Roman"/>
              </a:rPr>
              <a:t> Filters out Adobe/CutePDF drivers; allows only physical paper with dynamic watermarks.</a:t>
            </a:r>
          </a:p>
          <a:p>
            <a:pPr>
              <a:spcAft>
                <a:spcPts val="350"/>
              </a:spcAft>
              <a:defRPr sz="1100" b="1">
                <a:solidFill>
                  <a:srgbClr val="0A3C2F"/>
                </a:solidFill>
                <a:latin typeface="Times New Roman"/>
              </a:defRPr>
            </a:pPr>
            <a:r>
              <a:t>• ChronoLock &amp; Rigged Timers:</a:t>
            </a:r>
            <a:r>
              <a:rPr sz="1100" b="0">
                <a:solidFill>
                  <a:srgbClr val="112211"/>
                </a:solidFill>
                <a:latin typeface="Times New Roman"/>
              </a:rPr>
              <a:t> Supports countdown self-destruct time-bombs and max view count quotas.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27249120"/>
            <a:ext cx="10927080" cy="621792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37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56032" bIns="228600"/>
          <a:lstStyle/>
          <a:p>
            <a:pPr algn="ctr">
              <a:spcAft>
                <a:spcPts val="800"/>
              </a:spcAft>
              <a:defRPr sz="1550" b="1">
                <a:solidFill>
                  <a:srgbClr val="0A3C2F"/>
                </a:solidFill>
                <a:latin typeface="Times New Roman"/>
              </a:defRPr>
            </a:pPr>
            <a:r>
              <a:t>10.  FUTURE SCOPE</a:t>
            </a:r>
          </a:p>
          <a:p>
            <a:pPr>
              <a:spcAft>
                <a:spcPts val="250"/>
              </a:spcAft>
              <a:defRPr sz="1080">
                <a:solidFill>
                  <a:srgbClr val="112211"/>
                </a:solidFill>
                <a:latin typeface="Times New Roman"/>
              </a:defRPr>
            </a:pPr>
            <a:r>
              <a:t>1. AI Screen Recording Detection: Camera gaze tracking to prevent external smartphone recording.</a:t>
            </a:r>
          </a:p>
          <a:p>
            <a:pPr>
              <a:spcAft>
                <a:spcPts val="250"/>
              </a:spcAft>
              <a:defRPr sz="1080">
                <a:solidFill>
                  <a:srgbClr val="112211"/>
                </a:solidFill>
                <a:latin typeface="Times New Roman"/>
              </a:defRPr>
            </a:pPr>
            <a:r>
              <a:t>2. Zero-Knowledge Proofs: Anonymous yet cryptographically verified recipient authorization.</a:t>
            </a:r>
          </a:p>
          <a:p>
            <a:pPr>
              <a:spcAft>
                <a:spcPts val="250"/>
              </a:spcAft>
              <a:defRPr sz="1080">
                <a:solidFill>
                  <a:srgbClr val="112211"/>
                </a:solidFill>
                <a:latin typeface="Times New Roman"/>
              </a:defRPr>
            </a:pPr>
            <a:r>
              <a:t>3. Multi-Format Container: Extend .gdrm encapsulation to CAD blueprints, audio, and video.</a:t>
            </a:r>
          </a:p>
          <a:p>
            <a:pPr>
              <a:spcAft>
                <a:spcPts val="250"/>
              </a:spcAft>
              <a:defRPr sz="1080">
                <a:solidFill>
                  <a:srgbClr val="112211"/>
                </a:solidFill>
                <a:latin typeface="Times New Roman"/>
              </a:defRPr>
            </a:pPr>
            <a:r>
              <a:t>4. Decentralized Audit Logs: Immutable SnailTrail notarization on distributed ledgers.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2527280" y="27249120"/>
            <a:ext cx="10927080" cy="621792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37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56032" bIns="228600"/>
          <a:lstStyle/>
          <a:p>
            <a:pPr algn="ctr">
              <a:spcAft>
                <a:spcPts val="800"/>
              </a:spcAft>
              <a:defRPr sz="1550" b="1">
                <a:solidFill>
                  <a:srgbClr val="0A3C2F"/>
                </a:solidFill>
                <a:latin typeface="Times New Roman"/>
              </a:defRPr>
            </a:pPr>
            <a:r>
              <a:t>11.  CONCLUSION</a:t>
            </a:r>
          </a:p>
          <a:p>
            <a:pPr>
              <a:defRPr sz="1100">
                <a:solidFill>
                  <a:srgbClr val="112211"/>
                </a:solidFill>
                <a:latin typeface="Times New Roman"/>
              </a:defRPr>
            </a:pPr>
            <a:r>
              <a:t>GDRM Ecosystems successfully establishes a comprehensive zero-trust security paradigm for sensitive electronic documents. By unifying cryptographic container packaging, cloud recipient authentication, hardware device binding, anti-copy reader suppression, and dynamic watermarked physical printing, Granular Digital Right Manager prevents unauthorized data leaks at every stage.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4231600" y="27249120"/>
            <a:ext cx="10927080" cy="621792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37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56032" bIns="228600"/>
          <a:lstStyle/>
          <a:p>
            <a:pPr algn="ctr">
              <a:spcAft>
                <a:spcPts val="800"/>
              </a:spcAft>
              <a:defRPr sz="1550" b="1">
                <a:solidFill>
                  <a:srgbClr val="0A3C2F"/>
                </a:solidFill>
                <a:latin typeface="Times New Roman"/>
              </a:defRPr>
            </a:pPr>
            <a:r>
              <a:t>12.  REFERENCES</a:t>
            </a:r>
          </a:p>
          <a:p>
            <a:pPr>
              <a:spcAft>
                <a:spcPts val="200"/>
              </a:spcAft>
              <a:defRPr sz="1019">
                <a:solidFill>
                  <a:srgbClr val="112211"/>
                </a:solidFill>
                <a:latin typeface="Times New Roman"/>
              </a:defRPr>
            </a:pPr>
            <a:r>
              <a:t>1. Stallings, W. (2020) - Cryptography &amp; Network Security: Principles and Practice, 8th Ed.</a:t>
            </a:r>
          </a:p>
          <a:p>
            <a:pPr>
              <a:spcAft>
                <a:spcPts val="200"/>
              </a:spcAft>
              <a:defRPr sz="1019">
                <a:solidFill>
                  <a:srgbClr val="112211"/>
                </a:solidFill>
                <a:latin typeface="Times New Roman"/>
              </a:defRPr>
            </a:pPr>
            <a:r>
              <a:t>2. Adobe Systems Inc. (2020) - PDF Reference &amp; Security Architecture Specification, ISO 32000-2.</a:t>
            </a:r>
          </a:p>
          <a:p>
            <a:pPr>
              <a:spcAft>
                <a:spcPts val="200"/>
              </a:spcAft>
              <a:defRPr sz="1019">
                <a:solidFill>
                  <a:srgbClr val="112211"/>
                </a:solidFill>
                <a:latin typeface="Times New Roman"/>
              </a:defRPr>
            </a:pPr>
            <a:r>
              <a:t>3. NIST SP 800-175B (2022) - Guideline for Using Cryptographic Standards in Organizations.</a:t>
            </a:r>
          </a:p>
          <a:p>
            <a:pPr>
              <a:spcAft>
                <a:spcPts val="200"/>
              </a:spcAft>
              <a:defRPr sz="1019">
                <a:solidFill>
                  <a:srgbClr val="112211"/>
                </a:solidFill>
                <a:latin typeface="Times New Roman"/>
              </a:defRPr>
            </a:pPr>
            <a:r>
              <a:t>4. IEEE TIFS (2023) - Defending Against Client-Side Data Leakage in Zero-Trust Systems.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34107120"/>
            <a:ext cx="34354008" cy="1005840"/>
          </a:xfrm>
          <a:prstGeom prst="roundRect">
            <a:avLst/>
          </a:prstGeom>
          <a:solidFill>
            <a:srgbClr val="0A3C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Times New Roman"/>
              </a:defRPr>
            </a:pPr>
            <a:r>
              <a:t>GDRM Ecosystems • Granular Digital Right Manager Architecture    |    Department of Computer Engineering &amp; Cyber Security    |    1000mm × 1000mm Flex Format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